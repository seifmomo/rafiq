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82296"/>
          </a:xfrm>
          <a:prstGeom prst="roundRect">
            <a:avLst/>
          </a:prstGeom>
          <a:solidFill>
            <a:srgbClr val="03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6775704"/>
            <a:ext cx="12191695" cy="82296"/>
          </a:xfrm>
          <a:prstGeom prst="roundRect">
            <a:avLst/>
          </a:prstGeom>
          <a:solidFill>
            <a:srgbClr val="015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3DCE1"/>
                </a:solidFill>
                <a:latin typeface="Calibri"/>
              </a:rPr>
              <a:t>STARTUP PITCH  ·  SEIF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0B8C8"/>
                </a:solidFill>
                <a:latin typeface="Calibri"/>
              </a:rPr>
              <a:t>رفيق  —  Arabic for “companion / friend”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Calibri Light"/>
              </a:rPr>
              <a:t>RAFIQ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3DCE1"/>
                </a:solidFill>
                <a:latin typeface="Calibri Light"/>
              </a:rPr>
              <a:t>Human Support Assistant Booking Platform for People with Disabilities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An AI-powered Accessibility Marketplace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B0B8C8"/>
                </a:solidFill>
                <a:latin typeface="Calibri"/>
              </a:rPr>
              <a:t>Trained human assistance, matched by AI — independence for users, income for assistants.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074920"/>
            <a:ext cx="4754880" cy="777240"/>
          </a:xfrm>
          <a:prstGeom prst="roundRect">
            <a:avLst>
              <a:gd name="adj" fmla="val 12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2852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B8CE"/>
                </a:solidFill>
                <a:latin typeface="Calibri"/>
              </a:rPr>
              <a:t>Mission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513832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Empower people with disabilities — technology + human help + AI.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5074920"/>
            <a:ext cx="5394960" cy="777240"/>
          </a:xfrm>
          <a:prstGeom prst="roundRect">
            <a:avLst>
              <a:gd name="adj" fmla="val 12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52852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B8CE"/>
                </a:solidFill>
                <a:latin typeface="Calibri"/>
              </a:rPr>
              <a:t>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551383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Egypt pilot → the Middle East → global accessibility market.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0B8C8"/>
                </a:solidFill>
                <a:latin typeface="Calibri"/>
              </a:rPr>
              <a:t>RAFIQ  ·  AI-powered Accessibility Marketplace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0B8C8"/>
                </a:solidFill>
                <a:latin typeface="Calibri"/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1097280" cy="41148"/>
          </a:xfrm>
          <a:prstGeom prst="roundRect">
            <a:avLst/>
          </a:prstGeom>
          <a:solidFill>
            <a:srgbClr val="03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3DCE1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Calibri Light"/>
              </a:rPr>
              <a:t>Daily life is full of friction — and trained help is hard to find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5486400" cy="1051560"/>
          </a:xfrm>
          <a:prstGeom prst="roundRect">
            <a:avLst>
              <a:gd name="adj" fmla="val 10000"/>
            </a:avLst>
          </a:prstGeom>
          <a:solidFill>
            <a:srgbClr val="1E334C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38528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3DCE1"/>
                </a:solidFill>
                <a:latin typeface="Calibri Light"/>
              </a:rPr>
              <a:t>1 in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1460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B0B8C8"/>
                </a:solidFill>
                <a:latin typeface="Calibri"/>
              </a:rPr>
              <a:t>people worldwide live with a disability  (WHO)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783080"/>
            <a:ext cx="4754880" cy="1051560"/>
          </a:xfrm>
          <a:prstGeom prst="roundRect">
            <a:avLst>
              <a:gd name="adj" fmla="val 10000"/>
            </a:avLst>
          </a:prstGeom>
          <a:solidFill>
            <a:srgbClr val="1E334C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1938528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FB8CE"/>
                </a:solidFill>
                <a:latin typeface="Calibri Light"/>
              </a:rPr>
              <a:t>~1.3B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51460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B0B8C8"/>
                </a:solidFill>
                <a:latin typeface="Calibri"/>
              </a:rPr>
              <a:t>people globally need assistance to move &amp; communicate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108960"/>
            <a:ext cx="4754880" cy="1463040"/>
          </a:xfrm>
          <a:prstGeom prst="roundRect">
            <a:avLst>
              <a:gd name="adj" fmla="val 9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273552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Fragmented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657600"/>
            <a:ext cx="4297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0B8C8"/>
                </a:solidFill>
                <a:latin typeface="Calibri"/>
              </a:rPr>
              <a:t>A map app, a reminder app, an SOS app — nothing ties assistance together with AI.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108960"/>
            <a:ext cx="4754880" cy="1463040"/>
          </a:xfrm>
          <a:prstGeom prst="roundRect">
            <a:avLst>
              <a:gd name="adj" fmla="val 9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3273552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No help on demand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3657600"/>
            <a:ext cx="4297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0B8C8"/>
                </a:solidFill>
                <a:latin typeface="Calibri"/>
              </a:rPr>
              <a:t>Assistance is informal, unvetted and expensive; no platform to book trained support.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709160"/>
            <a:ext cx="4754880" cy="1463040"/>
          </a:xfrm>
          <a:prstGeom prst="roundRect">
            <a:avLst>
              <a:gd name="adj" fmla="val 9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873752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Every trip is a gamble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257800"/>
            <a:ext cx="4297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0B8C8"/>
                </a:solidFill>
                <a:latin typeface="Calibri"/>
              </a:rPr>
              <a:t>Inaccessible buildings, no ramp warnings, no accessibility-aware routing.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4709160"/>
            <a:ext cx="4754880" cy="1463040"/>
          </a:xfrm>
          <a:prstGeom prst="roundRect">
            <a:avLst>
              <a:gd name="adj" fmla="val 9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4873752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Families burn 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5257800"/>
            <a:ext cx="4297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0B8C8"/>
                </a:solidFill>
                <a:latin typeface="Calibri"/>
              </a:rPr>
              <a:t>24/7 caregiving with no relief, no transparency and no accountability.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0B8C8"/>
                </a:solidFill>
                <a:latin typeface="Calibri"/>
              </a:rPr>
              <a:t>RAFIQ  ·  AI-powered Accessibility Marketplace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0B8C8"/>
                </a:solidFill>
                <a:latin typeface="Calibr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1097280" cy="41148"/>
          </a:xfrm>
          <a:prstGeom prst="roundRect">
            <a:avLst/>
          </a:prstGeom>
          <a:solidFill>
            <a:srgbClr val="03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3DCE1"/>
                </a:solidFill>
                <a:latin typeface="Calibri"/>
              </a:rPr>
              <a:t>THE USER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Calibri Light"/>
              </a:rPr>
              <a:t>Laila, 24 — Cairo, Egypt · wheelchair 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FB8CE"/>
                </a:solidFill>
                <a:latin typeface="Calibri"/>
              </a:rPr>
              <a:t>“Lives alone, and lives fully.”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86000"/>
            <a:ext cx="3291840" cy="1965960"/>
          </a:xfrm>
          <a:prstGeom prst="roundRect">
            <a:avLst>
              <a:gd name="adj" fmla="val 9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286000"/>
            <a:ext cx="3291840" cy="45720"/>
          </a:xfrm>
          <a:prstGeom prst="roundRect">
            <a:avLst/>
          </a:prstGeom>
          <a:solidFill>
            <a:srgbClr val="03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542032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Getting around is a maze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3108960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0B8C8"/>
                </a:solidFill>
                <a:latin typeface="Calibri"/>
              </a:rPr>
              <a:t>Streets and buildings are rarely built with everyone in mind.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286000"/>
            <a:ext cx="3291840" cy="1965960"/>
          </a:xfrm>
          <a:prstGeom prst="roundRect">
            <a:avLst>
              <a:gd name="adj" fmla="val 9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2286000"/>
            <a:ext cx="3291840" cy="45720"/>
          </a:xfrm>
          <a:prstGeom prst="roundRect">
            <a:avLst/>
          </a:prstGeom>
          <a:solidFill>
            <a:srgbClr val="1FB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2856" y="2542032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Making herself heard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3108960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0B8C8"/>
                </a:solidFill>
                <a:latin typeface="Calibri"/>
              </a:rPr>
              <a:t>A conversation can be exhausting without a shared language.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2286000"/>
            <a:ext cx="3291840" cy="1965960"/>
          </a:xfrm>
          <a:prstGeom prst="roundRect">
            <a:avLst>
              <a:gd name="adj" fmla="val 9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63840" y="2286000"/>
            <a:ext cx="3291840" cy="457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83296" y="2542032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A missed call can mean danger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3108960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0B8C8"/>
                </a:solidFill>
                <a:latin typeface="Calibri"/>
              </a:rPr>
              <a:t>Emergency help is never guaranteed to answer.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617720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1E334C"/>
          </a:solidFill>
          <a:ln w="9525">
            <a:solidFill>
              <a:srgbClr val="015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82803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RAFIQ turns her journey into a plan — accessible routes, a voice that speaks for her,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74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3DCE1"/>
                </a:solidFill>
                <a:latin typeface="Calibri"/>
              </a:rPr>
              <a:t>and trained human assistants booked on demand when she needs them.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0B8C8"/>
                </a:solidFill>
                <a:latin typeface="Calibri"/>
              </a:rPr>
              <a:t>RAFIQ  ·  AI-powered Accessibility Marketplace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0B8C8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1097280" cy="41148"/>
          </a:xfrm>
          <a:prstGeom prst="roundRect">
            <a:avLst/>
          </a:prstGeom>
          <a:solidFill>
            <a:srgbClr val="03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3DCE1"/>
                </a:solidFill>
                <a:latin typeface="Calibri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Calibri Light"/>
              </a:rPr>
              <a:t>A market that only grows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5440680" cy="1600200"/>
          </a:xfrm>
          <a:prstGeom prst="roundRect">
            <a:avLst>
              <a:gd name="adj" fmla="val 9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64008" cy="1600200"/>
          </a:xfrm>
          <a:prstGeom prst="roundRect">
            <a:avLst/>
          </a:prstGeom>
          <a:solidFill>
            <a:srgbClr val="03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 Light"/>
              </a:rPr>
              <a:t>16% of humanity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41448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B0B8C8"/>
                </a:solidFill>
                <a:latin typeface="Calibri"/>
              </a:rPr>
              <a:t>~1.3B people live with a disability worldwide (WHO)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783080"/>
            <a:ext cx="5440680" cy="1600200"/>
          </a:xfrm>
          <a:prstGeom prst="roundRect">
            <a:avLst>
              <a:gd name="adj" fmla="val 9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0" y="1783080"/>
            <a:ext cx="64008" cy="1600200"/>
          </a:xfrm>
          <a:prstGeom prst="roundRect">
            <a:avLst/>
          </a:prstGeom>
          <a:solidFill>
            <a:srgbClr val="1FB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965960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 Light"/>
              </a:rPr>
              <a:t>Egypt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441448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B0B8C8"/>
                </a:solidFill>
                <a:latin typeface="Calibri"/>
              </a:rPr>
              <a:t>An estimated 20M+ people with disabilities — help is fragmented &amp; informal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11880"/>
            <a:ext cx="5440680" cy="1600200"/>
          </a:xfrm>
          <a:prstGeom prst="roundRect">
            <a:avLst>
              <a:gd name="adj" fmla="val 9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611880"/>
            <a:ext cx="64008" cy="1600200"/>
          </a:xfrm>
          <a:prstGeom prst="roundRect">
            <a:avLst/>
          </a:prstGeom>
          <a:solidFill>
            <a:srgbClr val="015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794760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 Light"/>
              </a:rPr>
              <a:t>MENA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270248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B0B8C8"/>
                </a:solidFill>
                <a:latin typeface="Calibri"/>
              </a:rPr>
              <a:t>60M+ potential users; aging population adds demand every year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3611880"/>
            <a:ext cx="5440680" cy="1600200"/>
          </a:xfrm>
          <a:prstGeom prst="roundRect">
            <a:avLst>
              <a:gd name="adj" fmla="val 9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92240" y="3611880"/>
            <a:ext cx="64008" cy="1600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3794760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 Light"/>
              </a:rPr>
              <a:t>Spending tailwinds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270248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B0B8C8"/>
                </a:solidFill>
                <a:latin typeface="Calibri"/>
              </a:rPr>
              <a:t>Accessibility mandates, disability tourism, corporate ESG budgets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504688"/>
            <a:ext cx="10515600" cy="777240"/>
          </a:xfrm>
          <a:prstGeom prst="roundRect">
            <a:avLst>
              <a:gd name="adj" fmla="val 10000"/>
            </a:avLst>
          </a:prstGeom>
          <a:solidFill>
            <a:srgbClr val="1E334C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6692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Market shape (pitch estimates):  TAM — global accessible assistance ($60B+)   ·   SAM — MENA assistive services   ·   SOM — Cairo/MENA, 5%+ penetration in 3 years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0B8C8"/>
                </a:solidFill>
                <a:latin typeface="Calibri"/>
              </a:rPr>
              <a:t>RAFIQ  ·  AI-powered Accessibility Marketplace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0B8C8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1097280" cy="41148"/>
          </a:xfrm>
          <a:prstGeom prst="roundRect">
            <a:avLst/>
          </a:prstGeom>
          <a:solidFill>
            <a:srgbClr val="03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3DCE1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Calibri Light"/>
              </a:rPr>
              <a:t>One product, two moving parts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5166360" cy="3017520"/>
          </a:xfrm>
          <a:prstGeom prst="roundRect">
            <a:avLst>
              <a:gd name="adj" fmla="val 8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5166360" cy="566928"/>
          </a:xfrm>
          <a:prstGeom prst="roundRect">
            <a:avLst>
              <a:gd name="adj" fmla="val 8000"/>
            </a:avLst>
          </a:prstGeom>
          <a:solidFill>
            <a:srgbClr val="015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3852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THE MARKETPLACE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514600"/>
            <a:ext cx="47548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96"/>
              </a:spcAft>
            </a:pPr>
            <a:r>
              <a:rPr sz="1050">
                <a:solidFill>
                  <a:srgbClr val="03DCE1"/>
                </a:solidFill>
                <a:latin typeface="Calibri"/>
              </a:rPr>
              <a:t>●  </a:t>
            </a:r>
            <a:r>
              <a:rPr sz="1250">
                <a:solidFill>
                  <a:srgbClr val="FFFFFF"/>
                </a:solidFill>
                <a:latin typeface="Calibri"/>
              </a:rPr>
              <a:t>Book trained support assistants — wheelchair, mobility, sign language, hearing, vision, elderly &amp; multiple</a:t>
            </a:r>
          </a:p>
          <a:p>
            <a:pPr algn="l">
              <a:lnSpc>
                <a:spcPct val="100000"/>
              </a:lnSpc>
              <a:spcAft>
                <a:spcPts val="396"/>
              </a:spcAft>
            </a:pPr>
            <a:r>
              <a:rPr sz="1050">
                <a:solidFill>
                  <a:srgbClr val="03DCE1"/>
                </a:solidFill>
                <a:latin typeface="Calibri"/>
              </a:rPr>
              <a:t>●  </a:t>
            </a:r>
            <a:r>
              <a:rPr sz="1250">
                <a:solidFill>
                  <a:srgbClr val="FFFFFF"/>
                </a:solidFill>
                <a:latin typeface="Calibri"/>
              </a:rPr>
              <a:t>Verified profiles, community ratings, transparent hourly rates</a:t>
            </a:r>
          </a:p>
          <a:p>
            <a:pPr algn="l">
              <a:lnSpc>
                <a:spcPct val="100000"/>
              </a:lnSpc>
              <a:spcAft>
                <a:spcPts val="396"/>
              </a:spcAft>
            </a:pPr>
            <a:r>
              <a:rPr sz="1050">
                <a:solidFill>
                  <a:srgbClr val="03DCE1"/>
                </a:solidFill>
                <a:latin typeface="Calibri"/>
              </a:rPr>
              <a:t>●  </a:t>
            </a:r>
            <a:r>
              <a:rPr sz="1250">
                <a:solidFill>
                  <a:srgbClr val="FFFFFF"/>
                </a:solidFill>
                <a:latin typeface="Calibri"/>
              </a:rPr>
              <a:t>Needs-matched search: disability type → location → destination → budget</a:t>
            </a:r>
          </a:p>
          <a:p>
            <a:pPr algn="l">
              <a:lnSpc>
                <a:spcPct val="100000"/>
              </a:lnSpc>
              <a:spcAft>
                <a:spcPts val="396"/>
              </a:spcAft>
            </a:pPr>
            <a:r>
              <a:rPr sz="1050">
                <a:solidFill>
                  <a:srgbClr val="03DCE1"/>
                </a:solidFill>
                <a:latin typeface="Calibri"/>
              </a:rPr>
              <a:t>●  </a:t>
            </a:r>
            <a:r>
              <a:rPr sz="1250">
                <a:solidFill>
                  <a:srgbClr val="FFFFFF"/>
                </a:solidFill>
                <a:latin typeface="Calibri"/>
              </a:rPr>
              <a:t>Cost estimate with estimated hours before you commit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83080"/>
            <a:ext cx="5166360" cy="3017520"/>
          </a:xfrm>
          <a:prstGeom prst="roundRect">
            <a:avLst>
              <a:gd name="adj" fmla="val 8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1783080"/>
            <a:ext cx="5166360" cy="566928"/>
          </a:xfrm>
          <a:prstGeom prst="roundRect">
            <a:avLst>
              <a:gd name="adj" fmla="val 8000"/>
            </a:avLst>
          </a:prstGeom>
          <a:solidFill>
            <a:srgbClr val="03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93852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1626"/>
                </a:solidFill>
                <a:latin typeface="Calibri"/>
              </a:rPr>
              <a:t>THE AI SUITE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14600"/>
            <a:ext cx="47548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96"/>
              </a:spcAft>
            </a:pPr>
            <a:r>
              <a:rPr sz="1050">
                <a:solidFill>
                  <a:srgbClr val="03DCE1"/>
                </a:solidFill>
                <a:latin typeface="Calibri"/>
              </a:rPr>
              <a:t>●  </a:t>
            </a:r>
            <a:r>
              <a:rPr sz="1250">
                <a:solidFill>
                  <a:srgbClr val="FFFFFF"/>
                </a:solidFill>
                <a:latin typeface="Calibri"/>
              </a:rPr>
              <a:t>Sign language — 10 real-time gestures, fully on-device</a:t>
            </a:r>
          </a:p>
          <a:p>
            <a:pPr algn="l">
              <a:lnSpc>
                <a:spcPct val="100000"/>
              </a:lnSpc>
              <a:spcAft>
                <a:spcPts val="396"/>
              </a:spcAft>
            </a:pPr>
            <a:r>
              <a:rPr sz="1050">
                <a:solidFill>
                  <a:srgbClr val="03DCE1"/>
                </a:solidFill>
                <a:latin typeface="Calibri"/>
              </a:rPr>
              <a:t>●  </a:t>
            </a:r>
            <a:r>
              <a:rPr sz="1250">
                <a:solidFill>
                  <a:srgbClr val="FFFFFF"/>
                </a:solidFill>
                <a:latin typeface="Calibri"/>
              </a:rPr>
              <a:t>Voice commands &amp; AI chat — works even with zero signal</a:t>
            </a:r>
          </a:p>
          <a:p>
            <a:pPr algn="l">
              <a:lnSpc>
                <a:spcPct val="100000"/>
              </a:lnSpc>
              <a:spcAft>
                <a:spcPts val="396"/>
              </a:spcAft>
            </a:pPr>
            <a:r>
              <a:rPr sz="1050">
                <a:solidFill>
                  <a:srgbClr val="03DCE1"/>
                </a:solidFill>
                <a:latin typeface="Calibri"/>
              </a:rPr>
              <a:t>●  </a:t>
            </a:r>
            <a:r>
              <a:rPr sz="1250">
                <a:solidFill>
                  <a:srgbClr val="FFFFFF"/>
                </a:solidFill>
                <a:latin typeface="Calibri"/>
              </a:rPr>
              <a:t>Accessible navigation — wheelchair/sign/braille-place map</a:t>
            </a:r>
          </a:p>
          <a:p>
            <a:pPr algn="l">
              <a:lnSpc>
                <a:spcPct val="100000"/>
              </a:lnSpc>
              <a:spcAft>
                <a:spcPts val="396"/>
              </a:spcAft>
            </a:pPr>
            <a:r>
              <a:rPr sz="1050">
                <a:solidFill>
                  <a:srgbClr val="03DCE1"/>
                </a:solidFill>
                <a:latin typeface="Calibri"/>
              </a:rPr>
              <a:t>●  </a:t>
            </a:r>
            <a:r>
              <a:rPr sz="1250">
                <a:solidFill>
                  <a:srgbClr val="FFFFFF"/>
                </a:solidFill>
                <a:latin typeface="Calibri"/>
              </a:rPr>
              <a:t>Emergency SOS — countdown + share/call/maps fallbacks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029200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1E334C"/>
          </a:solidFill>
          <a:ln w="9525">
            <a:solidFill>
              <a:srgbClr val="1FB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19379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CE"/>
                </a:solidFill>
                <a:latin typeface="Calibri"/>
              </a:rPr>
              <a:t>Matching engine in the middle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4681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FFFFFF"/>
                </a:solidFill>
                <a:latin typeface="Calibri"/>
              </a:rPr>
              <a:t>Skills → location → budget → the best assistant, best route, estimated cost &amp; accessibility notes.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0B8C8"/>
                </a:solidFill>
                <a:latin typeface="Calibri"/>
              </a:rPr>
              <a:t>RAFIQ  ·  AI-powered Accessibility Marketplace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0B8C8"/>
                </a:solidFill>
                <a:latin typeface="Calibr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1097280" cy="41148"/>
          </a:xfrm>
          <a:prstGeom prst="roundRect">
            <a:avLst/>
          </a:prstGeom>
          <a:solidFill>
            <a:srgbClr val="03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3DCE1"/>
                </a:solidFill>
                <a:latin typeface="Calibri"/>
              </a:rPr>
              <a:t>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Calibri Light"/>
              </a:rPr>
              <a:t>What’s live in the app today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2514600" cy="1691640"/>
          </a:xfrm>
          <a:prstGeom prst="roundRect">
            <a:avLst>
              <a:gd name="adj" fmla="val 10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2514600" cy="54864"/>
          </a:xfrm>
          <a:prstGeom prst="roundRect">
            <a:avLst/>
          </a:prstGeom>
          <a:solidFill>
            <a:srgbClr val="03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84248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Assistant Booking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96312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B0B8C8"/>
                </a:solidFill>
                <a:latin typeface="Calibri"/>
              </a:rPr>
              <a:t>Needs → journey → AI results → confirm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783080"/>
            <a:ext cx="2514600" cy="1691640"/>
          </a:xfrm>
          <a:prstGeom prst="roundRect">
            <a:avLst>
              <a:gd name="adj" fmla="val 10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20440" y="1783080"/>
            <a:ext cx="2514600" cy="54864"/>
          </a:xfrm>
          <a:prstGeom prst="roundRect">
            <a:avLst/>
          </a:prstGeom>
          <a:solidFill>
            <a:srgbClr val="1FB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1984248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AI Matching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496312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B0B8C8"/>
                </a:solidFill>
                <a:latin typeface="Calibri"/>
              </a:rPr>
              <a:t>Scores skill match, rating, distance, budget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83080"/>
            <a:ext cx="2514600" cy="1691640"/>
          </a:xfrm>
          <a:prstGeom prst="roundRect">
            <a:avLst>
              <a:gd name="adj" fmla="val 10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783080"/>
            <a:ext cx="2514600" cy="54864"/>
          </a:xfrm>
          <a:prstGeom prst="roundRect">
            <a:avLst/>
          </a:prstGeom>
          <a:solidFill>
            <a:srgbClr val="03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84248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Sign Language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96312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B0B8C8"/>
                </a:solidFill>
                <a:latin typeface="Calibri"/>
              </a:rPr>
              <a:t>10 signs on-device — no internet needed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1783080"/>
            <a:ext cx="2514600" cy="1691640"/>
          </a:xfrm>
          <a:prstGeom prst="roundRect">
            <a:avLst>
              <a:gd name="adj" fmla="val 10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15400" y="1783080"/>
            <a:ext cx="2514600" cy="54864"/>
          </a:xfrm>
          <a:prstGeom prst="roundRect">
            <a:avLst/>
          </a:prstGeom>
          <a:solidFill>
            <a:srgbClr val="1FB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984248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Voice &amp; Chat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496312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B0B8C8"/>
                </a:solidFill>
                <a:latin typeface="Calibri"/>
              </a:rPr>
              <a:t>Talk/type; offline smart fallback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657600"/>
            <a:ext cx="2514600" cy="1691640"/>
          </a:xfrm>
          <a:prstGeom prst="roundRect">
            <a:avLst>
              <a:gd name="adj" fmla="val 10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3657600"/>
            <a:ext cx="2514600" cy="54864"/>
          </a:xfrm>
          <a:prstGeom prst="roundRect">
            <a:avLst/>
          </a:prstGeom>
          <a:solidFill>
            <a:srgbClr val="03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3858768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Accessible 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370832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B0B8C8"/>
                </a:solidFill>
                <a:latin typeface="Calibri"/>
              </a:rPr>
              <a:t>Cairo demo places + Google Maps links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20440" y="3657600"/>
            <a:ext cx="2514600" cy="1691640"/>
          </a:xfrm>
          <a:prstGeom prst="roundRect">
            <a:avLst>
              <a:gd name="adj" fmla="val 10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520440" y="3657600"/>
            <a:ext cx="2514600" cy="54864"/>
          </a:xfrm>
          <a:prstGeom prst="roundRect">
            <a:avLst/>
          </a:prstGeom>
          <a:solidFill>
            <a:srgbClr val="1FB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03320" y="3858768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Emergency SOS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370832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B0B8C8"/>
                </a:solidFill>
                <a:latin typeface="Calibri"/>
              </a:rPr>
              <a:t>Countdown + share / call / maps fallbacks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657600"/>
            <a:ext cx="2514600" cy="1691640"/>
          </a:xfrm>
          <a:prstGeom prst="roundRect">
            <a:avLst>
              <a:gd name="adj" fmla="val 10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17920" y="3657600"/>
            <a:ext cx="2514600" cy="54864"/>
          </a:xfrm>
          <a:prstGeom prst="roundRect">
            <a:avLst/>
          </a:prstGeom>
          <a:solidFill>
            <a:srgbClr val="03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858768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Medication &amp; Health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370832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B0B8C8"/>
                </a:solidFill>
                <a:latin typeface="Calibri"/>
              </a:rPr>
              <a:t>Reminders, hospital finder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15400" y="3657600"/>
            <a:ext cx="2514600" cy="1691640"/>
          </a:xfrm>
          <a:prstGeom prst="roundRect">
            <a:avLst>
              <a:gd name="adj" fmla="val 10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915400" y="3657600"/>
            <a:ext cx="2514600" cy="54864"/>
          </a:xfrm>
          <a:prstGeom prst="roundRect">
            <a:avLst/>
          </a:prstGeom>
          <a:solidFill>
            <a:srgbClr val="1FB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98280" y="3858768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Companion Score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80" y="4370832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B0B8C8"/>
                </a:solidFill>
                <a:latin typeface="Calibri"/>
              </a:rPr>
              <a:t>Points, levels, leaderboard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5532120"/>
            <a:ext cx="10515600" cy="658368"/>
          </a:xfrm>
          <a:prstGeom prst="roundRect">
            <a:avLst>
              <a:gd name="adj" fmla="val 12000"/>
            </a:avLst>
          </a:prstGeom>
          <a:solidFill>
            <a:srgbClr val="1E334C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7150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B981"/>
                </a:solidFill>
                <a:latin typeface="Calibri"/>
              </a:rPr>
              <a:t>Demo-ready — 18/18 unit tests passing, lint clean, debug APK builds.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0B8C8"/>
                </a:solidFill>
                <a:latin typeface="Calibri"/>
              </a:rPr>
              <a:t>RAFIQ  ·  AI-powered Accessibility Marketplace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0B8C8"/>
                </a:solidFill>
                <a:latin typeface="Calibr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1097280" cy="41148"/>
          </a:xfrm>
          <a:prstGeom prst="roundRect">
            <a:avLst/>
          </a:prstGeom>
          <a:solidFill>
            <a:srgbClr val="03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3DCE1"/>
                </a:solidFill>
                <a:latin typeface="Calibri"/>
              </a:rPr>
              <a:t>ASSISTANT BOOKING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Calibri Light"/>
              </a:rPr>
              <a:t>From need to confirmation in four steps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514600" cy="2468880"/>
          </a:xfrm>
          <a:prstGeom prst="roundRect">
            <a:avLst>
              <a:gd name="adj" fmla="val 9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24128" y="205740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3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139696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B1626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7432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Define needs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310128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B0B8C8"/>
                </a:solidFill>
                <a:latin typeface="Calibri"/>
              </a:rPr>
              <a:t>Pick support type — wheelchair, sign language, hearing, vision, elderly, multiple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3552" y="278892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Calibri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1828800"/>
            <a:ext cx="2514600" cy="2468880"/>
          </a:xfrm>
          <a:prstGeom prst="roundRect">
            <a:avLst>
              <a:gd name="adj" fmla="val 9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21608" y="205740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FB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21608" y="2139696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B1626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8" y="27432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Plan the journey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8" y="3310128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B0B8C8"/>
                </a:solidFill>
                <a:latin typeface="Calibri"/>
              </a:rPr>
              <a:t>From → to, preferred date &amp; time, hourly budget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71032" y="278892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Calibri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828800"/>
            <a:ext cx="2514600" cy="2468880"/>
          </a:xfrm>
          <a:prstGeom prst="roundRect">
            <a:avLst>
              <a:gd name="adj" fmla="val 9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19088" y="205740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15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2139696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B1626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27432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AI matches assist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310128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B0B8C8"/>
                </a:solidFill>
                <a:latin typeface="Calibri"/>
              </a:rPr>
              <a:t>Ranked results by match, rating, distance — all within budget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8512" y="278892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Calibri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15400" y="1828800"/>
            <a:ext cx="2514600" cy="2468880"/>
          </a:xfrm>
          <a:prstGeom prst="roundRect">
            <a:avLst>
              <a:gd name="adj" fmla="val 9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16568" y="205740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16568" y="2139696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B1626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8" y="27432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Review &amp; confirm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8" y="3310128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B0B8C8"/>
                </a:solidFill>
                <a:latin typeface="Calibri"/>
              </a:rPr>
              <a:t>Assistant profile, estimated hours &amp; total, booking reference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572000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1E334C"/>
          </a:solidFill>
          <a:ln w="9525">
            <a:solidFill>
              <a:srgbClr val="1FB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54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CE"/>
                </a:solidFill>
                <a:latin typeface="Calibri"/>
              </a:rPr>
              <a:t>Cost transparency before you commit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474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Estimated hours = distance / 15 km (min 1 hr), rounded to half-hours × assistant hourly rate.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0B8C8"/>
                </a:solidFill>
                <a:latin typeface="Calibri"/>
              </a:rPr>
              <a:t>RAFIQ  ·  AI-powered Accessibility Marketplace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0B8C8"/>
                </a:solidFill>
                <a:latin typeface="Calibr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1097280" cy="41148"/>
          </a:xfrm>
          <a:prstGeom prst="roundRect">
            <a:avLst/>
          </a:prstGeom>
          <a:solidFill>
            <a:srgbClr val="03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3DCE1"/>
                </a:solidFill>
                <a:latin typeface="Calibri"/>
              </a:rPr>
              <a:t>AI MATCHING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Calibri Light"/>
              </a:rPr>
              <a:t>The engine that makes the marketplace smart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3291840" cy="3291840"/>
          </a:xfrm>
          <a:prstGeom prst="roundRect">
            <a:avLst>
              <a:gd name="adj" fmla="val 8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93852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9E0B"/>
                </a:solidFill>
                <a:latin typeface="Calibri"/>
              </a:rPr>
              <a:t>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286000"/>
            <a:ext cx="2926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48"/>
              </a:spcAft>
            </a:pPr>
            <a:r>
              <a:rPr sz="1100">
                <a:solidFill>
                  <a:srgbClr val="F59E0B"/>
                </a:solidFill>
                <a:latin typeface="Calibri"/>
              </a:rPr>
              <a:t>●  </a:t>
            </a:r>
            <a:r>
              <a:rPr sz="1300">
                <a:solidFill>
                  <a:srgbClr val="FFFFFF"/>
                </a:solidFill>
                <a:latin typeface="Calibri"/>
              </a:rPr>
              <a:t>Disability type &amp; severity</a:t>
            </a:r>
          </a:p>
          <a:p>
            <a:pPr algn="l">
              <a:lnSpc>
                <a:spcPct val="100000"/>
              </a:lnSpc>
              <a:spcAft>
                <a:spcPts val="648"/>
              </a:spcAft>
            </a:pPr>
            <a:r>
              <a:rPr sz="1100">
                <a:solidFill>
                  <a:srgbClr val="F59E0B"/>
                </a:solidFill>
                <a:latin typeface="Calibri"/>
              </a:rPr>
              <a:t>●  </a:t>
            </a:r>
            <a:r>
              <a:rPr sz="1300">
                <a:solidFill>
                  <a:srgbClr val="FFFFFF"/>
                </a:solidFill>
                <a:latin typeface="Calibri"/>
              </a:rPr>
              <a:t>Pickup location</a:t>
            </a:r>
          </a:p>
          <a:p>
            <a:pPr algn="l">
              <a:lnSpc>
                <a:spcPct val="100000"/>
              </a:lnSpc>
              <a:spcAft>
                <a:spcPts val="648"/>
              </a:spcAft>
            </a:pPr>
            <a:r>
              <a:rPr sz="1100">
                <a:solidFill>
                  <a:srgbClr val="F59E0B"/>
                </a:solidFill>
                <a:latin typeface="Calibri"/>
              </a:rPr>
              <a:t>●  </a:t>
            </a:r>
            <a:r>
              <a:rPr sz="1300">
                <a:solidFill>
                  <a:srgbClr val="FFFFFF"/>
                </a:solidFill>
                <a:latin typeface="Calibri"/>
              </a:rPr>
              <a:t>Destination</a:t>
            </a:r>
          </a:p>
          <a:p>
            <a:pPr algn="l">
              <a:lnSpc>
                <a:spcPct val="100000"/>
              </a:lnSpc>
              <a:spcAft>
                <a:spcPts val="648"/>
              </a:spcAft>
            </a:pPr>
            <a:r>
              <a:rPr sz="1100">
                <a:solidFill>
                  <a:srgbClr val="F59E0B"/>
                </a:solidFill>
                <a:latin typeface="Calibri"/>
              </a:rPr>
              <a:t>●  </a:t>
            </a:r>
            <a:r>
              <a:rPr sz="1300">
                <a:solidFill>
                  <a:srgbClr val="FFFFFF"/>
                </a:solidFill>
                <a:latin typeface="Calibri"/>
              </a:rPr>
              <a:t>Budget</a:t>
            </a:r>
          </a:p>
          <a:p>
            <a:pPr algn="l">
              <a:lnSpc>
                <a:spcPct val="100000"/>
              </a:lnSpc>
              <a:spcAft>
                <a:spcPts val="648"/>
              </a:spcAft>
            </a:pPr>
            <a:r>
              <a:rPr sz="1100">
                <a:solidFill>
                  <a:srgbClr val="F59E0B"/>
                </a:solidFill>
                <a:latin typeface="Calibri"/>
              </a:rPr>
              <a:t>●  </a:t>
            </a:r>
            <a:r>
              <a:rPr sz="1300">
                <a:solidFill>
                  <a:srgbClr val="FFFFFF"/>
                </a:solidFill>
                <a:latin typeface="Calibri"/>
              </a:rPr>
              <a:t>Required skills</a:t>
            </a:r>
          </a:p>
          <a:p>
            <a:pPr algn="l">
              <a:lnSpc>
                <a:spcPct val="100000"/>
              </a:lnSpc>
              <a:spcAft>
                <a:spcPts val="648"/>
              </a:spcAft>
            </a:pPr>
            <a:r>
              <a:rPr sz="1100">
                <a:solidFill>
                  <a:srgbClr val="F59E0B"/>
                </a:solidFill>
                <a:latin typeface="Calibri"/>
              </a:rPr>
              <a:t>●  </a:t>
            </a:r>
            <a:r>
              <a:rPr sz="1300">
                <a:solidFill>
                  <a:srgbClr val="FFFFFF"/>
                </a:solidFill>
                <a:latin typeface="Calibri"/>
              </a:rPr>
              <a:t>Date &amp;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3017520"/>
            <a:ext cx="731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03DCE1"/>
                </a:solidFill>
                <a:latin typeface="Calibri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1783080"/>
            <a:ext cx="3291840" cy="3291840"/>
          </a:xfrm>
          <a:prstGeom prst="roundRect">
            <a:avLst>
              <a:gd name="adj" fmla="val 8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76088" y="193852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3DCE1"/>
                </a:solidFill>
                <a:latin typeface="Calibri"/>
              </a:rPr>
              <a:t>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6088" y="2286000"/>
            <a:ext cx="2926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48"/>
              </a:spcAft>
            </a:pPr>
            <a:r>
              <a:rPr sz="1100">
                <a:solidFill>
                  <a:srgbClr val="03DCE1"/>
                </a:solidFill>
                <a:latin typeface="Calibri"/>
              </a:rPr>
              <a:t>●  </a:t>
            </a:r>
            <a:r>
              <a:rPr sz="1300">
                <a:solidFill>
                  <a:srgbClr val="FFFFFF"/>
                </a:solidFill>
                <a:latin typeface="Calibri"/>
              </a:rPr>
              <a:t>Skill match to needs</a:t>
            </a:r>
          </a:p>
          <a:p>
            <a:pPr algn="l">
              <a:lnSpc>
                <a:spcPct val="100000"/>
              </a:lnSpc>
              <a:spcAft>
                <a:spcPts val="648"/>
              </a:spcAft>
            </a:pPr>
            <a:r>
              <a:rPr sz="1100">
                <a:solidFill>
                  <a:srgbClr val="03DCE1"/>
                </a:solidFill>
                <a:latin typeface="Calibri"/>
              </a:rPr>
              <a:t>●  </a:t>
            </a:r>
            <a:r>
              <a:rPr sz="1300">
                <a:solidFill>
                  <a:srgbClr val="FFFFFF"/>
                </a:solidFill>
                <a:latin typeface="Calibri"/>
              </a:rPr>
              <a:t>Distance / travel time</a:t>
            </a:r>
          </a:p>
          <a:p>
            <a:pPr algn="l">
              <a:lnSpc>
                <a:spcPct val="100000"/>
              </a:lnSpc>
              <a:spcAft>
                <a:spcPts val="648"/>
              </a:spcAft>
            </a:pPr>
            <a:r>
              <a:rPr sz="1100">
                <a:solidFill>
                  <a:srgbClr val="03DCE1"/>
                </a:solidFill>
                <a:latin typeface="Calibri"/>
              </a:rPr>
              <a:t>●  </a:t>
            </a:r>
            <a:r>
              <a:rPr sz="1300">
                <a:solidFill>
                  <a:srgbClr val="FFFFFF"/>
                </a:solidFill>
                <a:latin typeface="Calibri"/>
              </a:rPr>
              <a:t>Availability</a:t>
            </a:r>
          </a:p>
          <a:p>
            <a:pPr algn="l">
              <a:lnSpc>
                <a:spcPct val="100000"/>
              </a:lnSpc>
              <a:spcAft>
                <a:spcPts val="648"/>
              </a:spcAft>
            </a:pPr>
            <a:r>
              <a:rPr sz="1100">
                <a:solidFill>
                  <a:srgbClr val="03DCE1"/>
                </a:solidFill>
                <a:latin typeface="Calibri"/>
              </a:rPr>
              <a:t>●  </a:t>
            </a:r>
            <a:r>
              <a:rPr sz="1300">
                <a:solidFill>
                  <a:srgbClr val="FFFFFF"/>
                </a:solidFill>
                <a:latin typeface="Calibri"/>
              </a:rPr>
              <a:t>Rating &amp; reviews</a:t>
            </a:r>
          </a:p>
          <a:p>
            <a:pPr algn="l">
              <a:lnSpc>
                <a:spcPct val="100000"/>
              </a:lnSpc>
              <a:spcAft>
                <a:spcPts val="648"/>
              </a:spcAft>
            </a:pPr>
            <a:r>
              <a:rPr sz="1100">
                <a:solidFill>
                  <a:srgbClr val="03DCE1"/>
                </a:solidFill>
                <a:latin typeface="Calibri"/>
              </a:rPr>
              <a:t>●  </a:t>
            </a:r>
            <a:r>
              <a:rPr sz="1300">
                <a:solidFill>
                  <a:srgbClr val="FFFFFF"/>
                </a:solidFill>
                <a:latin typeface="Calibri"/>
              </a:rPr>
              <a:t>Budget fit</a:t>
            </a:r>
          </a:p>
          <a:p>
            <a:pPr algn="l">
              <a:lnSpc>
                <a:spcPct val="100000"/>
              </a:lnSpc>
              <a:spcAft>
                <a:spcPts val="648"/>
              </a:spcAft>
            </a:pPr>
            <a:r>
              <a:rPr sz="1100">
                <a:solidFill>
                  <a:srgbClr val="03DCE1"/>
                </a:solidFill>
                <a:latin typeface="Calibri"/>
              </a:rPr>
              <a:t>●  </a:t>
            </a:r>
            <a:r>
              <a:rPr sz="1300">
                <a:solidFill>
                  <a:srgbClr val="FFFFFF"/>
                </a:solidFill>
                <a:latin typeface="Calibri"/>
              </a:rPr>
              <a:t>Trust signals (verified)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017520"/>
            <a:ext cx="731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0B981"/>
                </a:solidFill>
                <a:latin typeface="Calibri"/>
              </a:rP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1783080"/>
            <a:ext cx="2788920" cy="3291840"/>
          </a:xfrm>
          <a:prstGeom prst="roundRect">
            <a:avLst>
              <a:gd name="adj" fmla="val 8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28048" y="193852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0B981"/>
                </a:solidFill>
                <a:latin typeface="Calibri"/>
              </a:rPr>
              <a:t>OUTPUTS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8048" y="2286000"/>
            <a:ext cx="23774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36"/>
              </a:spcAft>
            </a:pPr>
            <a:r>
              <a:rPr sz="1100">
                <a:solidFill>
                  <a:srgbClr val="10B981"/>
                </a:solidFill>
                <a:latin typeface="Calibri"/>
              </a:rPr>
              <a:t>●  </a:t>
            </a:r>
            <a:r>
              <a:rPr sz="1300">
                <a:solidFill>
                  <a:srgbClr val="FFFFFF"/>
                </a:solidFill>
                <a:latin typeface="Calibri"/>
              </a:rPr>
              <a:t>Best assistant(s)</a:t>
            </a:r>
          </a:p>
          <a:p>
            <a:pPr algn="l">
              <a:lnSpc>
                <a:spcPct val="100000"/>
              </a:lnSpc>
              <a:spcAft>
                <a:spcPts val="936"/>
              </a:spcAft>
            </a:pPr>
            <a:r>
              <a:rPr sz="1100">
                <a:solidFill>
                  <a:srgbClr val="10B981"/>
                </a:solidFill>
                <a:latin typeface="Calibri"/>
              </a:rPr>
              <a:t>●  </a:t>
            </a:r>
            <a:r>
              <a:rPr sz="1300">
                <a:solidFill>
                  <a:srgbClr val="FFFFFF"/>
                </a:solidFill>
                <a:latin typeface="Calibri"/>
              </a:rPr>
              <a:t>Best route</a:t>
            </a:r>
          </a:p>
          <a:p>
            <a:pPr algn="l">
              <a:lnSpc>
                <a:spcPct val="100000"/>
              </a:lnSpc>
              <a:spcAft>
                <a:spcPts val="936"/>
              </a:spcAft>
            </a:pPr>
            <a:r>
              <a:rPr sz="1100">
                <a:solidFill>
                  <a:srgbClr val="10B981"/>
                </a:solidFill>
                <a:latin typeface="Calibri"/>
              </a:rPr>
              <a:t>●  </a:t>
            </a:r>
            <a:r>
              <a:rPr sz="1300">
                <a:solidFill>
                  <a:srgbClr val="FFFFFF"/>
                </a:solidFill>
                <a:latin typeface="Calibri"/>
              </a:rPr>
              <a:t>Travel time</a:t>
            </a:r>
          </a:p>
          <a:p>
            <a:pPr algn="l">
              <a:lnSpc>
                <a:spcPct val="100000"/>
              </a:lnSpc>
              <a:spcAft>
                <a:spcPts val="936"/>
              </a:spcAft>
            </a:pPr>
            <a:r>
              <a:rPr sz="1100">
                <a:solidFill>
                  <a:srgbClr val="10B981"/>
                </a:solidFill>
                <a:latin typeface="Calibri"/>
              </a:rPr>
              <a:t>●  </a:t>
            </a:r>
            <a:r>
              <a:rPr sz="1300">
                <a:solidFill>
                  <a:srgbClr val="FFFFFF"/>
                </a:solidFill>
                <a:latin typeface="Calibri"/>
              </a:rPr>
              <a:t>Estimated cost</a:t>
            </a:r>
          </a:p>
          <a:p>
            <a:pPr algn="l">
              <a:lnSpc>
                <a:spcPct val="100000"/>
              </a:lnSpc>
              <a:spcAft>
                <a:spcPts val="936"/>
              </a:spcAft>
            </a:pPr>
            <a:r>
              <a:rPr sz="1100">
                <a:solidFill>
                  <a:srgbClr val="10B981"/>
                </a:solidFill>
                <a:latin typeface="Calibri"/>
              </a:rPr>
              <a:t>●  </a:t>
            </a:r>
            <a:r>
              <a:rPr sz="1300">
                <a:solidFill>
                  <a:srgbClr val="FFFFFF"/>
                </a:solidFill>
                <a:latin typeface="Calibri"/>
              </a:rPr>
              <a:t>Accessibility notes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257800"/>
            <a:ext cx="10515600" cy="777240"/>
          </a:xfrm>
          <a:prstGeom prst="roundRect">
            <a:avLst>
              <a:gd name="adj" fmla="val 10000"/>
            </a:avLst>
          </a:prstGeom>
          <a:solidFill>
            <a:srgbClr val="1E334C"/>
          </a:solidFill>
          <a:ln w="9525">
            <a:solidFill>
              <a:srgbClr val="015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44982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Every booking makes the engine smarter — this data flywheel is our core competitive moat.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0B8C8"/>
                </a:solidFill>
                <a:latin typeface="Calibri"/>
              </a:rPr>
              <a:t>RAFIQ  ·  AI-powered Accessibility Marketplace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0B8C8"/>
                </a:solidFill>
                <a:latin typeface="Calibr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1097280" cy="41148"/>
          </a:xfrm>
          <a:prstGeom prst="roundRect">
            <a:avLst/>
          </a:prstGeom>
          <a:solidFill>
            <a:srgbClr val="03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3DCE1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Calibri Light"/>
              </a:rPr>
              <a:t>Ten revenue streams around one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5166360" cy="786384"/>
          </a:xfrm>
          <a:prstGeom prst="roundRect">
            <a:avLst>
              <a:gd name="adj" fmla="val 10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92938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3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02536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626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84708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Booking Commission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847088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0B8C8"/>
                </a:solidFill>
                <a:latin typeface="Calibri"/>
              </a:rPr>
              <a:t>15–20% per completed booking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79191"/>
            <a:ext cx="5166360" cy="786384"/>
          </a:xfrm>
          <a:prstGeom prst="roundRect">
            <a:avLst>
              <a:gd name="adj" fmla="val 10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" y="282549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FB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98648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626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2743199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Premium User Subscription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743199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0B8C8"/>
                </a:solidFill>
                <a:latin typeface="Calibri"/>
              </a:rPr>
              <a:t>Unlimited bookings, priority matching, offline maps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575303"/>
            <a:ext cx="5166360" cy="786384"/>
          </a:xfrm>
          <a:prstGeom prst="roundRect">
            <a:avLst>
              <a:gd name="adj" fmla="val 10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20" y="3721607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15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794759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626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639311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Premium Assistant Subscription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3639311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0B8C8"/>
                </a:solidFill>
                <a:latin typeface="Calibri"/>
              </a:rPr>
              <a:t>Visibility, verified badge, scheduling tools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471416"/>
            <a:ext cx="5166360" cy="786384"/>
          </a:xfrm>
          <a:prstGeom prst="roundRect">
            <a:avLst>
              <a:gd name="adj" fmla="val 10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0120" y="461772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690872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626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4535424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NGO Partnerships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4535424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0B8C8"/>
                </a:solidFill>
                <a:latin typeface="Calibri"/>
              </a:rPr>
              <a:t>SaaS / white-label + per-booking rates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367527"/>
            <a:ext cx="5166360" cy="786384"/>
          </a:xfrm>
          <a:prstGeom prst="roundRect">
            <a:avLst>
              <a:gd name="adj" fmla="val 10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0120" y="5513831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586983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626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9888" y="5431536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Hospital Partnerships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5431536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0B8C8"/>
                </a:solidFill>
                <a:latin typeface="Calibri"/>
              </a:rPr>
              <a:t>Discharge-to-home bookings, B2B contract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1783080"/>
            <a:ext cx="5166360" cy="786384"/>
          </a:xfrm>
          <a:prstGeom prst="roundRect">
            <a:avLst>
              <a:gd name="adj" fmla="val 10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09360" y="192938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2002536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626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39128" y="184708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Rehab Center Partnerships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1847088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0B8C8"/>
                </a:solidFill>
                <a:latin typeface="Calibri"/>
              </a:rPr>
              <a:t>Recurring bookings via partner dashboard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2679191"/>
            <a:ext cx="5166360" cy="786384"/>
          </a:xfrm>
          <a:prstGeom prst="roundRect">
            <a:avLst>
              <a:gd name="adj" fmla="val 10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309360" y="282549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3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2898648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626"/>
                </a:solidFill>
                <a:latin typeface="Calibr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39128" y="2743199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Gov Accessibility Programs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2743199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0B8C8"/>
                </a:solidFill>
                <a:latin typeface="Calibri"/>
              </a:rPr>
              <a:t>Voucher-subsidized bookings, public projects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3575303"/>
            <a:ext cx="5166360" cy="786384"/>
          </a:xfrm>
          <a:prstGeom prst="roundRect">
            <a:avLst>
              <a:gd name="adj" fmla="val 10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309360" y="3721607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FB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3794759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626"/>
                </a:solidFill>
                <a:latin typeface="Calibri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39128" y="3639311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Corporate Accessibility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0" y="3639311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0B8C8"/>
                </a:solidFill>
                <a:latin typeface="Calibri"/>
              </a:rPr>
              <a:t>Campus audits + emergency assistance (B2B)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72200" y="4471416"/>
            <a:ext cx="5166360" cy="786384"/>
          </a:xfrm>
          <a:prstGeom prst="roundRect">
            <a:avLst>
              <a:gd name="adj" fmla="val 10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09360" y="461772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15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4690872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626"/>
                </a:solidFill>
                <a:latin typeface="Calibri"/>
              </a:rP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39128" y="4535424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AI Accessibility Services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1120" y="4535424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0B8C8"/>
                </a:solidFill>
                <a:latin typeface="Calibri"/>
              </a:rPr>
              <a:t>Accessibility scores, sign-language SDK, API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72200" y="5367527"/>
            <a:ext cx="5166360" cy="786384"/>
          </a:xfrm>
          <a:prstGeom prst="roundRect">
            <a:avLst>
              <a:gd name="adj" fmla="val 10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309360" y="5513831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5586983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626"/>
                </a:solidFill>
                <a:latin typeface="Calibri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39128" y="5431536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Future Marketplace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61120" y="5431536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0B8C8"/>
                </a:solidFill>
                <a:latin typeface="Calibri"/>
              </a:rPr>
              <a:t>Equipment rental &amp; assistive-device sales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0B8C8"/>
                </a:solidFill>
                <a:latin typeface="Calibri"/>
              </a:rPr>
              <a:t>RAFIQ  ·  AI-powered Accessibility Marketplace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24160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0B8C8"/>
                </a:solidFill>
                <a:latin typeface="Calibr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1097280" cy="41148"/>
          </a:xfrm>
          <a:prstGeom prst="roundRect">
            <a:avLst/>
          </a:prstGeom>
          <a:solidFill>
            <a:srgbClr val="03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3DCE1"/>
                </a:solidFill>
                <a:latin typeface="Calibri"/>
              </a:rPr>
              <a:t>MONEY FLOW &amp; 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Calibri Light"/>
              </a:rPr>
              <a:t>Clear, transparent, scalable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5440680" cy="1298448"/>
          </a:xfrm>
          <a:prstGeom prst="roundRect">
            <a:avLst>
              <a:gd name="adj" fmla="val 9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64008" cy="1298448"/>
          </a:xfrm>
          <a:prstGeom prst="roundRect">
            <a:avLst/>
          </a:prstGeom>
          <a:solidFill>
            <a:srgbClr val="03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92938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Calibri"/>
              </a:rPr>
              <a:t>User 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350008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0B8C8"/>
                </a:solidFill>
                <a:latin typeface="Calibri"/>
              </a:rPr>
              <a:t>Pay per booking or monthly premium subscription (tiered).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783080"/>
            <a:ext cx="5440680" cy="1298448"/>
          </a:xfrm>
          <a:prstGeom prst="roundRect">
            <a:avLst>
              <a:gd name="adj" fmla="val 9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0" y="1783080"/>
            <a:ext cx="64008" cy="1298448"/>
          </a:xfrm>
          <a:prstGeom prst="roundRect">
            <a:avLst/>
          </a:prstGeom>
          <a:solidFill>
            <a:srgbClr val="1FB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48272" y="192938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Calibri"/>
              </a:rPr>
              <a:t>Rate transparency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2350008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0B8C8"/>
                </a:solidFill>
                <a:latin typeface="Calibri"/>
              </a:rPr>
              <a:t>Estimated hours × assistant rate shown before confirming — no surprises.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64408"/>
            <a:ext cx="5440680" cy="1298448"/>
          </a:xfrm>
          <a:prstGeom prst="roundRect">
            <a:avLst>
              <a:gd name="adj" fmla="val 9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264408"/>
            <a:ext cx="64008" cy="1298448"/>
          </a:xfrm>
          <a:prstGeom prst="roundRect">
            <a:avLst/>
          </a:prstGeom>
          <a:solidFill>
            <a:srgbClr val="015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4107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Calibri"/>
              </a:rPr>
              <a:t>Platform 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3831336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0B8C8"/>
                </a:solidFill>
                <a:latin typeface="Calibri"/>
              </a:rPr>
              <a:t>15–20% commission collected at settlement; refunds policy builds trust.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3264408"/>
            <a:ext cx="5440680" cy="1298448"/>
          </a:xfrm>
          <a:prstGeom prst="roundRect">
            <a:avLst>
              <a:gd name="adj" fmla="val 9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92240" y="3264408"/>
            <a:ext cx="64008" cy="129844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48272" y="34107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Calibri"/>
              </a:rPr>
              <a:t>Assistant side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3831336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0B8C8"/>
                </a:solidFill>
                <a:latin typeface="Calibri"/>
              </a:rPr>
              <a:t>Free to join; premium visibility subscription opens up more bookings.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745736"/>
            <a:ext cx="5440680" cy="1298448"/>
          </a:xfrm>
          <a:prstGeom prst="roundRect">
            <a:avLst>
              <a:gd name="adj" fmla="val 9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4745736"/>
            <a:ext cx="64008" cy="129844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48920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Calibri"/>
              </a:rPr>
              <a:t>B2B contracts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5312664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0B8C8"/>
                </a:solidFill>
                <a:latin typeface="Calibri"/>
              </a:rPr>
              <a:t>Hospitals, rehab centers, corporates and government pay per-booking or subscription.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4745736"/>
            <a:ext cx="5440680" cy="1298448"/>
          </a:xfrm>
          <a:prstGeom prst="roundRect">
            <a:avLst>
              <a:gd name="adj" fmla="val 9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92240" y="4745736"/>
            <a:ext cx="64008" cy="1298448"/>
          </a:xfrm>
          <a:prstGeom prst="roundRect">
            <a:avLst/>
          </a:prstGeom>
          <a:solidFill>
            <a:srgbClr val="03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48272" y="48920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Calibri"/>
              </a:rPr>
              <a:t>Growth loop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2" y="5312664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0B8C8"/>
                </a:solidFill>
                <a:latin typeface="Calibri"/>
              </a:rPr>
              <a:t>Bookings → data → better matching → happier users → more assistants &amp; bookings.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0B8C8"/>
                </a:solidFill>
                <a:latin typeface="Calibri"/>
              </a:rPr>
              <a:t>RAFIQ  ·  AI-powered Accessibility Marketplace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0B8C8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1097280" cy="41148"/>
          </a:xfrm>
          <a:prstGeom prst="roundRect">
            <a:avLst/>
          </a:prstGeom>
          <a:solidFill>
            <a:srgbClr val="03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3DCE1"/>
                </a:solidFill>
                <a:latin typeface="Calibri"/>
              </a:rPr>
              <a:t>COMPETITIVE ADVANTAGE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Calibri Light"/>
              </a:rPr>
              <a:t>An AI-powered Accessibility Marketplace — not just a booking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4800600" cy="1188720"/>
          </a:xfrm>
          <a:prstGeom prst="roundRect">
            <a:avLst>
              <a:gd name="adj" fmla="val 9000"/>
            </a:avLst>
          </a:prstGeom>
          <a:solidFill>
            <a:srgbClr val="1E334C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911095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F4444"/>
                </a:solidFill>
                <a:latin typeface="Calibri"/>
              </a:rPr>
              <a:t>Uber / ride-hailing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286000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B0B8C8"/>
                </a:solidFill>
                <a:latin typeface="Calibri"/>
              </a:rPr>
              <a:t>Moves people — no assistive care.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783080"/>
            <a:ext cx="5486400" cy="1188720"/>
          </a:xfrm>
          <a:prstGeom prst="roundRect">
            <a:avLst>
              <a:gd name="adj" fmla="val 9000"/>
            </a:avLst>
          </a:prstGeom>
          <a:solidFill>
            <a:srgbClr val="17283F"/>
          </a:solidFill>
          <a:ln w="9525">
            <a:solidFill>
              <a:srgbClr val="1FB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8" y="1911095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B8CE"/>
                </a:solidFill>
                <a:latin typeface="Calibri"/>
              </a:rPr>
              <a:t>RAFIQ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8" y="2286000"/>
            <a:ext cx="5120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Trained assistive skills, needs-matched assistants, accessibility-aware routing.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081528"/>
            <a:ext cx="4800600" cy="1188720"/>
          </a:xfrm>
          <a:prstGeom prst="roundRect">
            <a:avLst>
              <a:gd name="adj" fmla="val 9000"/>
            </a:avLst>
          </a:prstGeom>
          <a:solidFill>
            <a:srgbClr val="1E334C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209544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F4444"/>
                </a:solidFill>
                <a:latin typeface="Calibri"/>
              </a:rPr>
              <a:t>Care.com / caregiving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584448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B0B8C8"/>
                </a:solidFill>
                <a:latin typeface="Calibri"/>
              </a:rPr>
              <a:t>Elderly-care listing board.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3081528"/>
            <a:ext cx="5486400" cy="1188720"/>
          </a:xfrm>
          <a:prstGeom prst="roundRect">
            <a:avLst>
              <a:gd name="adj" fmla="val 9000"/>
            </a:avLst>
          </a:prstGeom>
          <a:solidFill>
            <a:srgbClr val="17283F"/>
          </a:solidFill>
          <a:ln w="9525">
            <a:solidFill>
              <a:srgbClr val="1FB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8" y="3209544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B8CE"/>
                </a:solidFill>
                <a:latin typeface="Calibri"/>
              </a:rPr>
              <a:t>RAFIQ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8" y="3584448"/>
            <a:ext cx="5120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Purpose-built for people with disabilities; on-demand booking with cost transparency.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379976"/>
            <a:ext cx="4800600" cy="1188720"/>
          </a:xfrm>
          <a:prstGeom prst="roundRect">
            <a:avLst>
              <a:gd name="adj" fmla="val 9000"/>
            </a:avLst>
          </a:prstGeom>
          <a:solidFill>
            <a:srgbClr val="1E334C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507992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F4444"/>
                </a:solidFill>
                <a:latin typeface="Calibri"/>
              </a:rPr>
              <a:t>Traditional caregiving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882896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B0B8C8"/>
                </a:solidFill>
                <a:latin typeface="Calibri"/>
              </a:rPr>
              <a:t>Private, informal, unvetted.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97880" y="4379976"/>
            <a:ext cx="5486400" cy="1188720"/>
          </a:xfrm>
          <a:prstGeom prst="roundRect">
            <a:avLst>
              <a:gd name="adj" fmla="val 9000"/>
            </a:avLst>
          </a:prstGeom>
          <a:solidFill>
            <a:srgbClr val="17283F"/>
          </a:solidFill>
          <a:ln w="9525">
            <a:solidFill>
              <a:srgbClr val="1FB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8" y="450799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B8CE"/>
                </a:solidFill>
                <a:latin typeface="Calibri"/>
              </a:rPr>
              <a:t>RAFIQ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4882896"/>
            <a:ext cx="5120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Verified profiles, ratings, insurance-ready workflow, digital ledger.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678424"/>
            <a:ext cx="4800600" cy="1188720"/>
          </a:xfrm>
          <a:prstGeom prst="roundRect">
            <a:avLst>
              <a:gd name="adj" fmla="val 9000"/>
            </a:avLst>
          </a:prstGeom>
          <a:solidFill>
            <a:srgbClr val="1E334C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5806440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F4444"/>
                </a:solidFill>
                <a:latin typeface="Calibri"/>
              </a:rPr>
              <a:t>Accessibility NGOs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6181344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B0B8C8"/>
                </a:solidFill>
                <a:latin typeface="Calibri"/>
              </a:rPr>
              <a:t>Advocacy &amp; education.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97880" y="5678424"/>
            <a:ext cx="5486400" cy="1188720"/>
          </a:xfrm>
          <a:prstGeom prst="roundRect">
            <a:avLst>
              <a:gd name="adj" fmla="val 9000"/>
            </a:avLst>
          </a:prstGeom>
          <a:solidFill>
            <a:srgbClr val="17283F"/>
          </a:solidFill>
          <a:ln w="9525">
            <a:solidFill>
              <a:srgbClr val="1FB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99048" y="58064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B8CE"/>
                </a:solidFill>
                <a:latin typeface="Calibri"/>
              </a:rPr>
              <a:t>RAFIQ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9048" y="6181344"/>
            <a:ext cx="5120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A commercial marketplace delivering trained human help on demand.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0B8C8"/>
                </a:solidFill>
                <a:latin typeface="Calibri"/>
              </a:rPr>
              <a:t>RAFIQ  ·  AI-powered Accessibility Marketplace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0B8C8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1097280" cy="41148"/>
          </a:xfrm>
          <a:prstGeom prst="roundRect">
            <a:avLst/>
          </a:prstGeom>
          <a:solidFill>
            <a:srgbClr val="03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3DCE1"/>
                </a:solidFill>
                <a:latin typeface="Calibri"/>
              </a:rPr>
              <a:t>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Calibri Light"/>
              </a:rPr>
              <a:t>Built like a production product — and it works offline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3429000" cy="1645920"/>
          </a:xfrm>
          <a:prstGeom prst="roundRect">
            <a:avLst>
              <a:gd name="adj" fmla="val 9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3429000" cy="54864"/>
          </a:xfrm>
          <a:prstGeom prst="roundRect">
            <a:avLst/>
          </a:prstGeom>
          <a:solidFill>
            <a:srgbClr val="03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9659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Android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441448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B0B8C8"/>
                </a:solidFill>
                <a:latin typeface="Calibri"/>
              </a:rPr>
              <a:t>Kotlin · Jetpack Compose · MVVM + Hilt + Room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83080"/>
            <a:ext cx="3429000" cy="1645920"/>
          </a:xfrm>
          <a:prstGeom prst="roundRect">
            <a:avLst>
              <a:gd name="adj" fmla="val 9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4840" y="1783080"/>
            <a:ext cx="3429000" cy="54864"/>
          </a:xfrm>
          <a:prstGeom prst="roundRect">
            <a:avLst/>
          </a:prstGeom>
          <a:solidFill>
            <a:srgbClr val="1FB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9659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On-device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441448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B0B8C8"/>
                </a:solidFill>
                <a:latin typeface="Calibri"/>
              </a:rPr>
              <a:t>MediaPipe + CameraX — 10 sign gestures, zero signal needed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83080"/>
            <a:ext cx="3429000" cy="1645920"/>
          </a:xfrm>
          <a:prstGeom prst="roundRect">
            <a:avLst>
              <a:gd name="adj" fmla="val 9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0" y="1783080"/>
            <a:ext cx="3429000" cy="54864"/>
          </a:xfrm>
          <a:prstGeom prst="roundRect">
            <a:avLst/>
          </a:prstGeom>
          <a:solidFill>
            <a:srgbClr val="015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9659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Maps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441448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B0B8C8"/>
                </a:solidFill>
                <a:latin typeface="Calibri"/>
              </a:rPr>
              <a:t>osmdroid + Carto Voyager (OpenStreetMap data)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611880"/>
            <a:ext cx="3429000" cy="1645920"/>
          </a:xfrm>
          <a:prstGeom prst="roundRect">
            <a:avLst>
              <a:gd name="adj" fmla="val 9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3611880"/>
            <a:ext cx="3429000" cy="5486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37947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AI 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4270248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B0B8C8"/>
                </a:solidFill>
                <a:latin typeface="Calibri"/>
              </a:rPr>
              <a:t>Any OpenAI-compatible endpoint (OpenRouter / Groq / Azure / local) + offline fallback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611880"/>
            <a:ext cx="3429000" cy="1645920"/>
          </a:xfrm>
          <a:prstGeom prst="roundRect">
            <a:avLst>
              <a:gd name="adj" fmla="val 9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34840" y="3611880"/>
            <a:ext cx="3429000" cy="5486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8" y="37947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Platform backend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8" y="4270248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B0B8C8"/>
                </a:solidFill>
                <a:latin typeface="Calibri"/>
              </a:rPr>
              <a:t>Node.js · Express · PostgreSQL · WebSocket · JWT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611880"/>
            <a:ext cx="3429000" cy="1645920"/>
          </a:xfrm>
          <a:prstGeom prst="roundRect">
            <a:avLst>
              <a:gd name="adj" fmla="val 9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46720" y="3611880"/>
            <a:ext cx="3429000" cy="54864"/>
          </a:xfrm>
          <a:prstGeom prst="roundRect">
            <a:avLst/>
          </a:prstGeom>
          <a:solidFill>
            <a:srgbClr val="03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7888" y="37947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Quality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270248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B0B8C8"/>
                </a:solidFill>
                <a:latin typeface="Calibri"/>
              </a:rPr>
              <a:t>18/18 unit tests passing · lint clean · debug APK builds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532120"/>
            <a:ext cx="10515600" cy="658368"/>
          </a:xfrm>
          <a:prstGeom prst="roundRect">
            <a:avLst>
              <a:gd name="adj" fmla="val 12000"/>
            </a:avLst>
          </a:prstGeom>
          <a:solidFill>
            <a:srgbClr val="1E334C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57150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0B981"/>
                </a:solidFill>
                <a:latin typeface="Calibri"/>
              </a:rPr>
              <a:t>Offline-first: SOS, sign language, AI replies and the map all work with zero signal.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0B8C8"/>
                </a:solidFill>
                <a:latin typeface="Calibri"/>
              </a:rPr>
              <a:t>RAFIQ  ·  AI-powered Accessibility Marketplace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0B8C8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1097280" cy="41148"/>
          </a:xfrm>
          <a:prstGeom prst="roundRect">
            <a:avLst/>
          </a:prstGeom>
          <a:solidFill>
            <a:srgbClr val="03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3DCE1"/>
                </a:solidFill>
                <a:latin typeface="Calibri"/>
              </a:rPr>
              <a:t>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Calibri Light"/>
              </a:rPr>
              <a:t>Ranked by impact, difficulty and revenue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10515600" cy="457200"/>
          </a:xfrm>
          <a:prstGeom prst="roundRect">
            <a:avLst>
              <a:gd name="adj" fmla="val 8000"/>
            </a:avLst>
          </a:prstGeom>
          <a:solidFill>
            <a:srgbClr val="015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47088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84708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19" y="184708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Difficulty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9" y="1847088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Revenue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331720"/>
            <a:ext cx="10515600" cy="384048"/>
          </a:xfrm>
          <a:prstGeom prst="roundRect">
            <a:avLst>
              <a:gd name="adj" fmla="val 7000"/>
            </a:avLst>
          </a:prstGeom>
          <a:solidFill>
            <a:srgbClr val="17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395727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Real-time assistant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395727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0B8C8"/>
                </a:solidFill>
                <a:latin typeface="Calibri"/>
              </a:rP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395727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0B8C8"/>
                </a:solidFill>
                <a:latin typeface="Calibri"/>
              </a:rPr>
              <a:t>Medium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2395727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03DCE1"/>
                </a:solidFill>
                <a:latin typeface="Calibri"/>
              </a:rPr>
              <a:t>High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770632"/>
            <a:ext cx="10515600" cy="384048"/>
          </a:xfrm>
          <a:prstGeom prst="roundRect">
            <a:avLst>
              <a:gd name="adj" fmla="val 7000"/>
            </a:avLst>
          </a:prstGeom>
          <a:solidFill>
            <a:srgbClr val="1E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834639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Accessibility Score for locations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834639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0B8C8"/>
                </a:solidFill>
                <a:latin typeface="Calibri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834639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0B8C8"/>
                </a:solidFill>
                <a:latin typeface="Calibri"/>
              </a:rPr>
              <a:t>Medium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2834639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03DCE1"/>
                </a:solidFill>
                <a:latin typeface="Calibri"/>
              </a:rPr>
              <a:t>High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209544"/>
            <a:ext cx="10515600" cy="384048"/>
          </a:xfrm>
          <a:prstGeom prst="roundRect">
            <a:avLst>
              <a:gd name="adj" fmla="val 7000"/>
            </a:avLst>
          </a:prstGeom>
          <a:solidFill>
            <a:srgbClr val="17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273551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Live traffic-aware ETA &amp; 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273551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0B8C8"/>
                </a:solidFill>
                <a:latin typeface="Calibri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3273551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0B8C8"/>
                </a:solidFill>
                <a:latin typeface="Calibri"/>
              </a:rPr>
              <a:t>Low–Med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3273551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0B8C8"/>
                </a:solidFill>
                <a:latin typeface="Calibri"/>
              </a:rPr>
              <a:t>Medium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3648456"/>
            <a:ext cx="10515600" cy="384048"/>
          </a:xfrm>
          <a:prstGeom prst="roundRect">
            <a:avLst>
              <a:gd name="adj" fmla="val 7000"/>
            </a:avLst>
          </a:prstGeom>
          <a:solidFill>
            <a:srgbClr val="1E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3712463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Advanced AI accessibility assistant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3712463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0B8C8"/>
                </a:solidFill>
                <a:latin typeface="Calibri"/>
              </a:rPr>
              <a:t>High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712463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0B8C8"/>
                </a:solidFill>
                <a:latin typeface="Calibri"/>
              </a:rPr>
              <a:t>Medium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3712463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0B8C8"/>
                </a:solidFill>
                <a:latin typeface="Calibri"/>
              </a:rPr>
              <a:t>Medium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087368"/>
            <a:ext cx="10515600" cy="384048"/>
          </a:xfrm>
          <a:prstGeom prst="roundRect">
            <a:avLst>
              <a:gd name="adj" fmla="val 7000"/>
            </a:avLst>
          </a:prstGeom>
          <a:solidFill>
            <a:srgbClr val="17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151376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Accessibility community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151376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0B8C8"/>
                </a:solidFill>
                <a:latin typeface="Calibri"/>
              </a:rPr>
              <a:t>Medium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415137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0B8C8"/>
                </a:solidFill>
                <a:latin typeface="Calibri"/>
              </a:rPr>
              <a:t>Medium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4151376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0B8C8"/>
                </a:solidFill>
                <a:latin typeface="Calibri"/>
              </a:rPr>
              <a:t>Low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4526279"/>
            <a:ext cx="10515600" cy="384048"/>
          </a:xfrm>
          <a:prstGeom prst="roundRect">
            <a:avLst>
              <a:gd name="adj" fmla="val 7000"/>
            </a:avLst>
          </a:prstGeom>
          <a:solidFill>
            <a:srgbClr val="1E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4590288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Marketplace (rentals / devices)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459028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0B8C8"/>
                </a:solidFill>
                <a:latin typeface="Calibri"/>
              </a:rPr>
              <a:t>Medium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459028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0B8C8"/>
                </a:solidFill>
                <a:latin typeface="Calibri"/>
              </a:rPr>
              <a:t>High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9840" y="4590288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03DCE1"/>
                </a:solidFill>
                <a:latin typeface="Calibri"/>
              </a:rPr>
              <a:t>High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" y="4965192"/>
            <a:ext cx="10515600" cy="384048"/>
          </a:xfrm>
          <a:prstGeom prst="roundRect">
            <a:avLst>
              <a:gd name="adj" fmla="val 7000"/>
            </a:avLst>
          </a:prstGeom>
          <a:solidFill>
            <a:srgbClr val="17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502920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Smart accessibility recommendations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50292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0B8C8"/>
                </a:solidFill>
                <a:latin typeface="Calibri"/>
              </a:rPr>
              <a:t>Medium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5029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0B8C8"/>
                </a:solidFill>
                <a:latin typeface="Calibri"/>
              </a:rPr>
              <a:t>Medium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9840" y="502920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0B8C8"/>
                </a:solidFill>
                <a:latin typeface="Calibri"/>
              </a:rPr>
              <a:t>Medium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" y="5404104"/>
            <a:ext cx="10515600" cy="384048"/>
          </a:xfrm>
          <a:prstGeom prst="roundRect">
            <a:avLst>
              <a:gd name="adj" fmla="val 7000"/>
            </a:avLst>
          </a:prstGeom>
          <a:solidFill>
            <a:srgbClr val="1E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5468112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Emergency guardian dashboard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546811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0B8C8"/>
                </a:solidFill>
                <a:latin typeface="Calibri"/>
              </a:rPr>
              <a:t>High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78240" y="546811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0B8C8"/>
                </a:solidFill>
                <a:latin typeface="Calibri"/>
              </a:rPr>
              <a:t>Medium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49840" y="5468112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0B8C8"/>
                </a:solidFill>
                <a:latin typeface="Calibri"/>
              </a:rPr>
              <a:t>Medium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0B8C8"/>
                </a:solidFill>
                <a:latin typeface="Calibri"/>
              </a:rPr>
              <a:t>RAFIQ  ·  AI-powered Accessibility Marketplace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24160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0B8C8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1097280" cy="41148"/>
          </a:xfrm>
          <a:prstGeom prst="roundRect">
            <a:avLst/>
          </a:prstGeom>
          <a:solidFill>
            <a:srgbClr val="03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3DCE1"/>
                </a:solidFill>
                <a:latin typeface="Calibri"/>
              </a:rPr>
              <a:t>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Calibri Light"/>
              </a:rPr>
              <a:t>What we’re building toward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5440680" cy="1417320"/>
          </a:xfrm>
          <a:prstGeom prst="roundRect">
            <a:avLst>
              <a:gd name="adj" fmla="val 9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64008" cy="1417320"/>
          </a:xfrm>
          <a:prstGeom prst="roundRect">
            <a:avLst/>
          </a:prstGeom>
          <a:solidFill>
            <a:srgbClr val="03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94767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Calibri Light"/>
              </a:rPr>
              <a:t>Independence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404872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B0B8C8"/>
                </a:solidFill>
                <a:latin typeface="Calibri"/>
              </a:rPr>
              <a:t>Users move, work and live on their own terms.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783080"/>
            <a:ext cx="5440680" cy="1417320"/>
          </a:xfrm>
          <a:prstGeom prst="roundRect">
            <a:avLst>
              <a:gd name="adj" fmla="val 9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0" y="1783080"/>
            <a:ext cx="64008" cy="1417320"/>
          </a:xfrm>
          <a:prstGeom prst="roundRect">
            <a:avLst/>
          </a:prstGeom>
          <a:solidFill>
            <a:srgbClr val="1FB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48272" y="194767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Calibri Light"/>
              </a:rPr>
              <a:t>Safety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2404872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B0B8C8"/>
                </a:solidFill>
                <a:latin typeface="Calibri"/>
              </a:rPr>
              <a:t>Emergency help and trusted assistants, one tap away.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5440680" cy="1417320"/>
          </a:xfrm>
          <a:prstGeom prst="roundRect">
            <a:avLst>
              <a:gd name="adj" fmla="val 9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64008" cy="1417320"/>
          </a:xfrm>
          <a:prstGeom prst="roundRect">
            <a:avLst/>
          </a:prstGeom>
          <a:solidFill>
            <a:srgbClr val="015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54787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Calibri Light"/>
              </a:rPr>
              <a:t>A voice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005072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B0B8C8"/>
                </a:solidFill>
                <a:latin typeface="Calibri"/>
              </a:rPr>
              <a:t>Communication tools for every ability.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3383280"/>
            <a:ext cx="5440680" cy="1417320"/>
          </a:xfrm>
          <a:prstGeom prst="roundRect">
            <a:avLst>
              <a:gd name="adj" fmla="val 9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92240" y="3383280"/>
            <a:ext cx="64008" cy="1417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48272" y="354787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Calibri Light"/>
              </a:rPr>
              <a:t>Jobs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4005072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B0B8C8"/>
                </a:solidFill>
                <a:latin typeface="Calibri"/>
              </a:rPr>
              <a:t>A skills economy for trained assistants with fair pay.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120640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1E334C"/>
          </a:solidFill>
          <a:ln w="9525">
            <a:solidFill>
              <a:srgbClr val="03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32180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Cities get accessibility data — audits, public programs and inclusive design.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5961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3DCE1"/>
                </a:solidFill>
                <a:latin typeface="Calibri"/>
              </a:rPr>
              <a:t>“Accessibility isn’t a feature. It’s the whole product.”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0B8C8"/>
                </a:solidFill>
                <a:latin typeface="Calibri"/>
              </a:rPr>
              <a:t>RAFIQ  ·  AI-powered Accessibility Marketplace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0B8C8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1097280" cy="41148"/>
          </a:xfrm>
          <a:prstGeom prst="roundRect">
            <a:avLst/>
          </a:prstGeom>
          <a:solidFill>
            <a:srgbClr val="03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3DCE1"/>
                </a:solidFill>
                <a:latin typeface="Calibri"/>
              </a:rPr>
              <a:t>WHERE WE TAKE IT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Calibri Light"/>
              </a:rPr>
              <a:t>Cairo pilot → MENA → global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3429000" cy="2194560"/>
          </a:xfrm>
          <a:prstGeom prst="roundRect">
            <a:avLst>
              <a:gd name="adj" fmla="val 9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3429000" cy="64008"/>
          </a:xfrm>
          <a:prstGeom prst="roundRect">
            <a:avLst/>
          </a:prstGeom>
          <a:solidFill>
            <a:srgbClr val="03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0116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Phase 1 — 3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606040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B0B8C8"/>
                </a:solidFill>
                <a:latin typeface="Calibri"/>
              </a:rPr>
              <a:t>Cairo pilot: onboard 50 assistants + 3 hospital/rehab partners; free-trial premium tier.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83080"/>
            <a:ext cx="3429000" cy="2194560"/>
          </a:xfrm>
          <a:prstGeom prst="roundRect">
            <a:avLst>
              <a:gd name="adj" fmla="val 9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4840" y="1783080"/>
            <a:ext cx="3429000" cy="64008"/>
          </a:xfrm>
          <a:prstGeom prst="roundRect">
            <a:avLst/>
          </a:prstGeom>
          <a:solidFill>
            <a:srgbClr val="1FB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20116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Phase 2 — 6–12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606040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B0B8C8"/>
                </a:solidFill>
                <a:latin typeface="Calibri"/>
              </a:rPr>
              <a:t>Live tracking + Accessibility Score; Cairo &amp; Alexandria scale; GCC government pilots.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83080"/>
            <a:ext cx="3429000" cy="2194560"/>
          </a:xfrm>
          <a:prstGeom prst="roundRect">
            <a:avLst>
              <a:gd name="adj" fmla="val 9000"/>
            </a:avLst>
          </a:prstGeom>
          <a:solidFill>
            <a:srgbClr val="17283F"/>
          </a:solidFill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0" y="1783080"/>
            <a:ext cx="3429000" cy="64008"/>
          </a:xfrm>
          <a:prstGeom prst="roundRect">
            <a:avLst/>
          </a:prstGeom>
          <a:solidFill>
            <a:srgbClr val="015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0116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Phase 3 — 12–24 months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606040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B0B8C8"/>
                </a:solidFill>
                <a:latin typeface="Calibri"/>
              </a:rPr>
              <a:t>AI services API, assistive-device marketplace, MENA scaling.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297680"/>
            <a:ext cx="10515600" cy="777240"/>
          </a:xfrm>
          <a:prstGeom prst="roundRect">
            <a:avLst>
              <a:gd name="adj" fmla="val 10000"/>
            </a:avLst>
          </a:prstGeom>
          <a:solidFill>
            <a:srgbClr val="1E334C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480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B981"/>
                </a:solidFill>
                <a:latin typeface="Calibri"/>
              </a:rPr>
              <a:t>Metrics we live by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754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FFFFF"/>
                </a:solidFill>
                <a:latin typeface="Calibri"/>
              </a:rPr>
              <a:t>Bookings / month · match success rate · repeat rate · assistant retention · time-to-book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349240"/>
            <a:ext cx="10515600" cy="822960"/>
          </a:xfrm>
          <a:prstGeom prst="roundRect">
            <a:avLst>
              <a:gd name="adj" fmla="val 10000"/>
            </a:avLst>
          </a:prstGeom>
          <a:solidFill>
            <a:srgbClr val="17283F"/>
          </a:solidFill>
          <a:ln w="9525">
            <a:solidFill>
              <a:srgbClr val="015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5321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155F3"/>
                </a:solidFill>
                <a:latin typeface="Calibri"/>
              </a:rPr>
              <a:t>How we win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806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FFFFF"/>
                </a:solidFill>
                <a:latin typeface="Calibri"/>
              </a:rPr>
              <a:t>Density in one city → trust → data → a better assistant for every user.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0B8C8"/>
                </a:solidFill>
                <a:latin typeface="Calibri"/>
              </a:rPr>
              <a:t>RAFIQ  ·  AI-powered Accessibility Marketplace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0B8C8"/>
                </a:solidFill>
                <a:latin typeface="Calibr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82296"/>
          </a:xfrm>
          <a:prstGeom prst="roundRect">
            <a:avLst/>
          </a:prstGeom>
          <a:solidFill>
            <a:srgbClr val="015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6775704"/>
            <a:ext cx="12191695" cy="82296"/>
          </a:xfrm>
          <a:prstGeom prst="roundRect">
            <a:avLst/>
          </a:prstGeom>
          <a:solidFill>
            <a:srgbClr val="03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Calibri Light"/>
              </a:rPr>
              <a:t>“Accessibility isn’t a feature.
It’s the whole product.”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3DCE1"/>
                </a:solidFill>
                <a:latin typeface="Calibri"/>
              </a:rPr>
              <a:t>RAFIQ — Your Companion, Every Step.  ·  رفيق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B0B8C8"/>
                </a:solidFill>
                <a:latin typeface="Calibri"/>
              </a:rPr>
              <a:t>An AI-powered Accessibility Marketplace — trained human assistance, matched by AI.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5778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Thank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436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0B8C8"/>
                </a:solidFill>
                <a:latin typeface="Calibri"/>
              </a:rPr>
              <a:t>Presenter: Seif  ·  RAFIQ Startup Pitch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0B8C8"/>
                </a:solidFill>
                <a:latin typeface="Calibri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